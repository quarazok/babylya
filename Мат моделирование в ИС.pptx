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0E4D64"/>
            </a:solidFill>
            <a:ln w="38100" cap="flat">
              <a:solidFill>
                <a:srgbClr val="0E4D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D64"/>
              </a:solidFill>
              <a:ln w="9525" cap="flat">
                <a:solidFill>
                  <a:srgbClr val="0E4D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Пн</c:v>
                  </c:pt>
                  <c:pt idx="1">
                    <c:v>Вт</c:v>
                  </c:pt>
                  <c:pt idx="2">
                    <c:v>Ср</c:v>
                  </c:pt>
                  <c:pt idx="3">
                    <c:v>Чт</c:v>
                  </c:pt>
                  <c:pt idx="4">
                    <c:v>Пт</c:v>
                  </c:pt>
                  <c:pt idx="5">
                    <c:v>Сб</c:v>
                  </c:pt>
                  <c:pt idx="6">
                    <c:v>Вс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</c:v>
                </c:pt>
                <c:pt idx="1">
                  <c:v>55</c:v>
                </c:pt>
                <c:pt idx="2">
                  <c:v>61</c:v>
                </c:pt>
                <c:pt idx="3">
                  <c:v>58</c:v>
                </c:pt>
                <c:pt idx="4">
                  <c:v>72</c:v>
                </c:pt>
                <c:pt idx="5">
                  <c:v>35</c:v>
                </c:pt>
                <c:pt idx="6">
                  <c:v>30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Прогноз</c:v>
                </c:pt>
              </c:strCache>
            </c:strRef>
          </c:tx>
          <c:spPr>
            <a:solidFill>
              <a:srgbClr val="12A6A0"/>
            </a:solidFill>
            <a:ln w="38100" cap="flat">
              <a:solidFill>
                <a:srgbClr val="12A6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A6A0"/>
              </a:solidFill>
              <a:ln w="9525" cap="flat">
                <a:solidFill>
                  <a:srgbClr val="12A6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Пн</c:v>
                  </c:pt>
                  <c:pt idx="1">
                    <c:v>Вт</c:v>
                  </c:pt>
                  <c:pt idx="2">
                    <c:v>Ср</c:v>
                  </c:pt>
                  <c:pt idx="3">
                    <c:v>Чт</c:v>
                  </c:pt>
                  <c:pt idx="4">
                    <c:v>Пт</c:v>
                  </c:pt>
                  <c:pt idx="5">
                    <c:v>Сб</c:v>
                  </c:pt>
                  <c:pt idx="6">
                    <c:v>Вс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53</c:v>
                </c:pt>
                <c:pt idx="2">
                  <c:v>60</c:v>
                </c:pt>
                <c:pt idx="3">
                  <c:v>60</c:v>
                </c:pt>
                <c:pt idx="4">
                  <c:v>70</c:v>
                </c:pt>
                <c:pt idx="5">
                  <c:v>38</c:v>
                </c:pt>
                <c:pt idx="6">
                  <c:v>33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EE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502920"/>
            <a:ext cx="146304" cy="146304"/>
          </a:xfrm>
          <a:prstGeom prst="ellipse">
            <a:avLst/>
          </a:prstGeom>
          <a:solidFill>
            <a:srgbClr val="12A6A0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93808" y="502920"/>
            <a:ext cx="146304" cy="146304"/>
          </a:xfrm>
          <a:prstGeom prst="ellipse">
            <a:avLst/>
          </a:prstGeom>
          <a:solidFill>
            <a:srgbClr val="12A6A0">
              <a:alpha val="6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60736" y="502920"/>
            <a:ext cx="146304" cy="146304"/>
          </a:xfrm>
          <a:prstGeom prst="ellipse">
            <a:avLst/>
          </a:prstGeom>
          <a:solidFill>
            <a:srgbClr val="12A6A0">
              <a:alpha val="5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27664" y="502920"/>
            <a:ext cx="146304" cy="146304"/>
          </a:xfrm>
          <a:prstGeom prst="ellipse">
            <a:avLst/>
          </a:prstGeom>
          <a:solidFill>
            <a:srgbClr val="12A6A0">
              <a:alpha val="4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94592" y="502920"/>
            <a:ext cx="146304" cy="146304"/>
          </a:xfrm>
          <a:prstGeom prst="ellipse">
            <a:avLst/>
          </a:prstGeom>
          <a:solidFill>
            <a:srgbClr val="12A6A0">
              <a:alpha val="3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31720"/>
            <a:ext cx="118872" cy="1828800"/>
          </a:xfrm>
          <a:prstGeom prst="rect">
            <a:avLst/>
          </a:prstGeom>
          <a:solidFill>
            <a:srgbClr val="12A6A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ПРЕЗЕНТАЦИЯ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69748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Использование математического моделирования в современных информационных системах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14300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6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абстрактных моделей — к интеллектуальным цифровым решениям</a:t>
            </a:r>
            <a:endParaRPr lang="en-US" sz="1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58978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7E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 · Данные · Системы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математическое моделирование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44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Математическое моделирование — описание реальных объектов и процессов на языке математики (формул, уравнений, алгоритмов) для их анализа, прогноза и оптимизации без натурных экспериментов.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655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31927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363016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Упрощённый формальный образ реальной системы, сохраняющий её ключевые свойства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566928" cy="566928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37997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423367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Алгоритм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454456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Последовательность вычислений, реализующая модель в программном коде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5166360"/>
            <a:ext cx="566928" cy="566928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29437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514807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Прогноз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71600" y="545896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поведения системы при заданных условиях и параметрах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452360" y="1691640"/>
            <a:ext cx="4069080" cy="4434840"/>
          </a:xfrm>
          <a:prstGeom prst="roundRect">
            <a:avLst>
              <a:gd name="adj" fmla="val 2697"/>
            </a:avLst>
          </a:prstGeom>
          <a:solidFill>
            <a:srgbClr val="0F1E33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72668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мир  →  Модель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26680" y="251460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f(x, t) = A·sin(ωt) + ε</a:t>
            </a: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dN/dt = rN(1 − N/K)</a:t>
            </a: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Wx + b</a:t>
            </a: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P(A|B) = P(B|A)·P(A) / P(B)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7726680" y="5532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объект — множество моделей под конкретную задачу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Актуальность и цели работы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 информационные системы оперируют огромными объёмами данных и должны принимать решения в реальном времени. Математические модели лежат в основе их «интеллекта» — от поисковых систем до банковского риск-менеджмента.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EEF4F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743200"/>
            <a:ext cx="91440" cy="1600200"/>
          </a:xfrm>
          <a:prstGeom prst="rect">
            <a:avLst/>
          </a:prstGeom>
          <a:solidFill>
            <a:srgbClr val="12A6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07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~328 </a:t>
            </a:r>
            <a:pPr indent="0" marL="0">
              <a:buNone/>
            </a:pPr>
            <a:r>
              <a:rPr lang="en-US" sz="1600" b="1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ТБ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 создаётся в мире ежедневно — их обработка немыслима без моделей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2743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EE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361688" y="2743200"/>
            <a:ext cx="91440" cy="1600200"/>
          </a:xfrm>
          <a:prstGeom prst="rect">
            <a:avLst/>
          </a:prstGeom>
          <a:solidFill>
            <a:srgbClr val="12A6A0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907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 </a:t>
            </a:r>
            <a:pPr indent="0" marL="0">
              <a:buNone/>
            </a:pPr>
            <a:r>
              <a:rPr lang="en-US" sz="1600" b="1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решений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36008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крупных ИС основано на статистике и предиктивной аналитике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2743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EE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083296" y="2743200"/>
            <a:ext cx="91440" cy="1600200"/>
          </a:xfrm>
          <a:prstGeom prst="rect">
            <a:avLst/>
          </a:prstGeom>
          <a:solidFill>
            <a:srgbClr val="12A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2907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 </a:t>
            </a:r>
            <a:pPr indent="0" marL="0">
              <a:buNone/>
            </a:pPr>
            <a:r>
              <a:rPr lang="en-US" sz="1600" b="1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57616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работают автоматически, без участия человека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91440" cy="141732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задачи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513892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— раскрыть роль математического моделирования в архитектуре современных ИС.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Рассмотреть основные типы моделей и этапы их построения.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 ключевые области применения и сопутствующие проблемы.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ЧАСТЬ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Виды математических моделей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305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933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Детерминированные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7249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Однозначная связь входов и выходов. Дифференциальные уравнения, линейная алгебра.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53128" y="1737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99339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305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19933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Стохастические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27448" y="27249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Учитывают случайность. Теория вероятностей, цепи Маркова, метод Монте-Карло.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66176" y="17373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22208" y="199339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1305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6296" y="19933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Динамические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40496" y="272491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Описывают изменение системы во времени: очереди, нагрузка серверов, трафик.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23367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37083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2336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Сетевые / графовые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496519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и связи между ними: социальные сети, маршрутизация, БД графов.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53128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423367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37083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13248" y="42336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Обучаемые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727448" y="496519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подбираются по данным: регрессия, нейросети, кластеризация.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266176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22208" y="423367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437083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26296" y="42336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Оптимизационные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540496" y="496519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наилучшего решения при ограничениях: линейное программирование.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ЧАСТЬ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Этапы построения модели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81912" y="1965960"/>
            <a:ext cx="8997696" cy="0"/>
          </a:xfrm>
          <a:prstGeom prst="line">
            <a:avLst/>
          </a:prstGeom>
          <a:noFill/>
          <a:ln w="25400">
            <a:solidFill>
              <a:srgbClr val="C9D6E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30452" y="1719072"/>
            <a:ext cx="502920" cy="5029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1330452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39496" y="22860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97864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816352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9224" y="35844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Постановка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4088" y="40690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 задачи, определение целей и границ системы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79876" y="1719072"/>
            <a:ext cx="502920" cy="5029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3" name="Text 10"/>
          <p:cNvSpPr/>
          <p:nvPr/>
        </p:nvSpPr>
        <p:spPr>
          <a:xfrm>
            <a:off x="3579876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788920" y="22860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0F1E33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47288" y="2651760"/>
            <a:ext cx="768096" cy="768096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81635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98648" y="35844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Формализация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953512" y="40690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задачи на язык математики, выбор типа модели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829300" y="1719072"/>
            <a:ext cx="502920" cy="5029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0" name="Text 16"/>
          <p:cNvSpPr/>
          <p:nvPr/>
        </p:nvSpPr>
        <p:spPr>
          <a:xfrm>
            <a:off x="5829300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038344" y="22860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696712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816352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48072" y="35844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Реализация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202936" y="40690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Программирование алгоритма, численные методы, расчёты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078724" y="1719072"/>
            <a:ext cx="502920" cy="5029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7" name="Text 22"/>
          <p:cNvSpPr/>
          <p:nvPr/>
        </p:nvSpPr>
        <p:spPr>
          <a:xfrm>
            <a:off x="8078724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7287768" y="22860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0F1E33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946136" y="2651760"/>
            <a:ext cx="768096" cy="768096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2816352"/>
            <a:ext cx="438912" cy="43891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97496" y="35844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Верификация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7452360" y="40690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адекватности модели на реальных данных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10328148" y="1719072"/>
            <a:ext cx="502920" cy="5029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34" name="Text 28"/>
          <p:cNvSpPr/>
          <p:nvPr/>
        </p:nvSpPr>
        <p:spPr>
          <a:xfrm>
            <a:off x="10328148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29"/>
          <p:cNvSpPr/>
          <p:nvPr/>
        </p:nvSpPr>
        <p:spPr>
          <a:xfrm>
            <a:off x="9537192" y="22860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10195560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2816352"/>
            <a:ext cx="438912" cy="43891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646920" y="358444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Внедрение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9701784" y="40690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в ИС и сопровождение в эксплуатации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итеративен: по результатам верификации модель уточняется и пересматривается.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ЧАСТЬ ·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Применение: анализ данных и Big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110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37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Статистические модели и методы машинного обучения превращают сырые данные в знания. Это фундамент работы хранилищ данных, рекомендательных систем и бизнес-аналитики.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85800" y="3291840"/>
            <a:ext cx="5715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 и временные ряды — прогноз спроса и нагрузки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 — сегментация пользователей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Корреляционный анализ — выявление зависимостей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20840" y="1783080"/>
            <a:ext cx="4800600" cy="4389120"/>
          </a:xfrm>
          <a:prstGeom prst="roundRect">
            <a:avLst>
              <a:gd name="adj" fmla="val 2083"/>
            </a:avLst>
          </a:prstGeom>
          <a:solidFill>
            <a:srgbClr val="EEF4F8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0" y="1965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нагрузки на систему (модель временного ряда)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812280" y="2468880"/>
          <a:ext cx="46177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ЧАСТЬ ·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Применение: машинное обучение и 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основе любой нейросети и алгоритма ИИ лежит математика: линейная алгебра, матанализ и теория вероятностей. Модель «учится», минимизируя функцию ошибки методом градиентного спуска.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285232" cy="1600200"/>
          </a:xfrm>
          <a:prstGeom prst="roundRect">
            <a:avLst>
              <a:gd name="adj" fmla="val 5143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4612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38328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03580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Нейронные сети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3493008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образов, речи и текста; генеративные модели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6208" y="2743200"/>
            <a:ext cx="5285232" cy="1600200"/>
          </a:xfrm>
          <a:prstGeom prst="roundRect">
            <a:avLst>
              <a:gd name="adj" fmla="val 5143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0528" y="324612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33832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7768" y="303580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Регрессия и классификация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87768" y="3493008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Скоринг, фильтрация спама, медицинская диагностика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617720"/>
            <a:ext cx="5285232" cy="1600200"/>
          </a:xfrm>
          <a:prstGeom prst="roundRect">
            <a:avLst>
              <a:gd name="adj" fmla="val 5143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512064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2578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9103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Рекомендательные системы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5367528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Матричная факторизация, ранжирование контента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36208" y="4617720"/>
            <a:ext cx="5285232" cy="1600200"/>
          </a:xfrm>
          <a:prstGeom prst="roundRect">
            <a:avLst>
              <a:gd name="adj" fmla="val 5143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0528" y="512064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525780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87768" y="491032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Обучение с подкреплением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287768" y="5367528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Робототехника, управление и автономные агенты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ЧАСТЬ ·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Оптимизация, безопасность и производительность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251960"/>
          </a:xfrm>
          <a:prstGeom prst="roundRect">
            <a:avLst>
              <a:gd name="adj" fmla="val 259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23225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Оптимизация ресурсов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7552" y="3931920"/>
            <a:ext cx="2916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Балансировка нагрузки серверов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и логистика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Линейное и целочисленное программирование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53128" y="1783080"/>
            <a:ext cx="3520440" cy="4251960"/>
          </a:xfrm>
          <a:prstGeom prst="roundRect">
            <a:avLst>
              <a:gd name="adj" fmla="val 2597"/>
            </a:avLst>
          </a:prstGeom>
          <a:solidFill>
            <a:srgbClr val="0F1E33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1868" y="2148840"/>
            <a:ext cx="822960" cy="82296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604" y="23225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3154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Кибербезопасность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00600" y="3931920"/>
            <a:ext cx="2916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аномалий и вторжений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Криптография и теория чисел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рисков и моделирование угроз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66176" y="1783080"/>
            <a:ext cx="3520440" cy="4251960"/>
          </a:xfrm>
          <a:prstGeom prst="roundRect">
            <a:avLst>
              <a:gd name="adj" fmla="val 259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14916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652" y="232257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3154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Производительность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13648" y="3931920"/>
            <a:ext cx="29169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массового обслуживания (очереди)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 пропускной способности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отказов оборудования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2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ЧАСТЬ ·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Преимущества и вызовы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85232" cy="4297680"/>
          </a:xfrm>
          <a:prstGeom prst="roundRect">
            <a:avLst>
              <a:gd name="adj" fmla="val 2128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84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D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Преимущества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затрат — эксперименты заменяются расчётами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Прогнозирование поведения системы наперёд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принятия решений в реальном времени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 на большие объёмы данных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Объективность и воспроизводимость результатов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6208" y="1783080"/>
            <a:ext cx="5285232" cy="4297680"/>
          </a:xfrm>
          <a:prstGeom prst="roundRect">
            <a:avLst>
              <a:gd name="adj" fmla="val 2128"/>
            </a:avLst>
          </a:prstGeom>
          <a:solidFill>
            <a:srgbClr val="0F1E33"/>
          </a:solidFill>
          <a:ln/>
          <a:effectLst>
            <a:outerShdw sx="100000" sy="100000" kx="0" ky="0" algn="bl" rotWithShape="0" blurRad="1016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2057400"/>
            <a:ext cx="548640" cy="54864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1854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6328" y="20848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Вызовы и ограничения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56248" y="28803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модели зависит от качества данных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переобучения и ложной точности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вычислительная сложность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«Чёрный ящик» — низкая интерпретируемость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2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Этика, конфиденциальность и смещение (bias)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46304" cy="146304"/>
          </a:xfrm>
          <a:prstGeom prst="ellipse">
            <a:avLst/>
          </a:prstGeom>
          <a:solidFill>
            <a:srgbClr val="12A6A0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07008" y="640080"/>
            <a:ext cx="146304" cy="146304"/>
          </a:xfrm>
          <a:prstGeom prst="ellipse">
            <a:avLst/>
          </a:prstGeom>
          <a:solidFill>
            <a:srgbClr val="12A6A0">
              <a:alpha val="6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73936" y="640080"/>
            <a:ext cx="146304" cy="146304"/>
          </a:xfrm>
          <a:prstGeom prst="ellipse">
            <a:avLst/>
          </a:prstGeom>
          <a:solidFill>
            <a:srgbClr val="12A6A0">
              <a:alpha val="5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340864" y="640080"/>
            <a:ext cx="146304" cy="146304"/>
          </a:xfrm>
          <a:prstGeom prst="ellipse">
            <a:avLst/>
          </a:prstGeom>
          <a:solidFill>
            <a:srgbClr val="12A6A0">
              <a:alpha val="4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07792" y="640080"/>
            <a:ext cx="146304" cy="146304"/>
          </a:xfrm>
          <a:prstGeom prst="ellipse">
            <a:avLst/>
          </a:prstGeom>
          <a:solidFill>
            <a:srgbClr val="12A6A0">
              <a:alpha val="3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61320" y="548640"/>
            <a:ext cx="868680" cy="8686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713232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Математическое моделирование — ядро современных ИС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22960" y="3200400"/>
            <a:ext cx="3383280" cy="2240280"/>
          </a:xfrm>
          <a:prstGeom prst="roundRect">
            <a:avLst>
              <a:gd name="adj" fmla="val 4082"/>
            </a:avLst>
          </a:prstGeom>
          <a:solidFill>
            <a:srgbClr val="16324F"/>
          </a:solidFill>
          <a:ln/>
        </p:spPr>
      </p:sp>
      <p:sp>
        <p:nvSpPr>
          <p:cNvPr id="12" name="Shape 9"/>
          <p:cNvSpPr/>
          <p:nvPr/>
        </p:nvSpPr>
        <p:spPr>
          <a:xfrm>
            <a:off x="1097280" y="3474720"/>
            <a:ext cx="640080" cy="640080"/>
          </a:xfrm>
          <a:prstGeom prst="ellipse">
            <a:avLst/>
          </a:prstGeom>
          <a:solidFill>
            <a:srgbClr val="0F1E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362102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Универсальный инструмент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097280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2D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прогноза нагрузки до ИИ — модели присутствуют на каждом уровне ИС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480560" y="3200400"/>
            <a:ext cx="3383280" cy="2240280"/>
          </a:xfrm>
          <a:prstGeom prst="roundRect">
            <a:avLst>
              <a:gd name="adj" fmla="val 4082"/>
            </a:avLst>
          </a:prstGeom>
          <a:solidFill>
            <a:srgbClr val="16324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3474720"/>
            <a:ext cx="640080" cy="640080"/>
          </a:xfrm>
          <a:prstGeom prst="ellipse">
            <a:avLst/>
          </a:prstGeom>
          <a:solidFill>
            <a:srgbClr val="0F1E3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362102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Основа интеллекта систем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4754880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2D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и аналитика немыслимы без строгого математического аппарата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138160" y="3200400"/>
            <a:ext cx="3383280" cy="2240280"/>
          </a:xfrm>
          <a:prstGeom prst="roundRect">
            <a:avLst>
              <a:gd name="adj" fmla="val 4082"/>
            </a:avLst>
          </a:prstGeom>
          <a:solidFill>
            <a:srgbClr val="16324F"/>
          </a:solidFill>
          <a:ln/>
        </p:spPr>
      </p:sp>
      <p:sp>
        <p:nvSpPr>
          <p:cNvPr id="22" name="Shape 17"/>
          <p:cNvSpPr/>
          <p:nvPr/>
        </p:nvSpPr>
        <p:spPr>
          <a:xfrm>
            <a:off x="8412480" y="3474720"/>
            <a:ext cx="640080" cy="640080"/>
          </a:xfrm>
          <a:prstGeom prst="ellipse">
            <a:avLst/>
          </a:prstGeom>
          <a:solidFill>
            <a:srgbClr val="0F1E3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362102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Вектор развития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8412480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2D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данных и вычислительных мощностей расширяет границы применения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822960" y="5852160"/>
            <a:ext cx="91440" cy="548640"/>
          </a:xfrm>
          <a:prstGeom prst="rect">
            <a:avLst/>
          </a:prstGeom>
          <a:solidFill>
            <a:srgbClr val="12A6A0"/>
          </a:solidFill>
          <a:ln/>
        </p:spPr>
      </p:sp>
      <p:sp>
        <p:nvSpPr>
          <p:cNvPr id="27" name="Text 21"/>
          <p:cNvSpPr/>
          <p:nvPr/>
        </p:nvSpPr>
        <p:spPr>
          <a:xfrm>
            <a:off x="1051560" y="58521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эффективность и конкурентоспособность информационных систем сегодня напрямую определяются качеством заложенных в них математических моделей.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моделирование в информационных системах</dc:title>
  <dc:subject>PptxGenJS Presentation</dc:subject>
  <dc:creator>Claude</dc:creator>
  <cp:lastModifiedBy>Claude</cp:lastModifiedBy>
  <cp:revision>1</cp:revision>
  <dcterms:created xsi:type="dcterms:W3CDTF">2026-06-01T10:08:40Z</dcterms:created>
  <dcterms:modified xsi:type="dcterms:W3CDTF">2026-06-01T10:08:40Z</dcterms:modified>
</cp:coreProperties>
</file>